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97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7371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1239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346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267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6129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129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369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4880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5738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321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42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6219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5218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215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298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654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3003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89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604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1748" y="1268760"/>
            <a:ext cx="39203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ru-RU" sz="45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Ритм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441972" y="2366069"/>
            <a:ext cx="62599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ru-RU" sz="1800" b="1" dirty="0">
                <a:solidFill>
                  <a:srgbClr val="A5D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Информационная система для студии по обучению игре на духовых музыкальных инструментах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26780" y="4563021"/>
            <a:ext cx="209044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04F54-AC7E-2A61-69C3-14B53A500662}"/>
              </a:ext>
            </a:extLst>
          </p:cNvPr>
          <p:cNvSpPr txBox="1"/>
          <p:nvPr/>
        </p:nvSpPr>
        <p:spPr>
          <a:xfrm>
            <a:off x="6480628" y="419368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A5D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Гончаренко Д.И. АСУб-22-2</a:t>
            </a:r>
            <a:endParaRPr lang="ru-RU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675" y="1343025"/>
            <a:ext cx="7981950" cy="609600"/>
          </a:xfrm>
          <a:prstGeom prst="roundRect">
            <a:avLst>
              <a:gd name="adj" fmla="val 90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75" y="2124075"/>
            <a:ext cx="7981950" cy="609600"/>
          </a:xfrm>
          <a:prstGeom prst="roundRect">
            <a:avLst>
              <a:gd name="adj" fmla="val 90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7675" y="2876550"/>
            <a:ext cx="7981950" cy="609600"/>
          </a:xfrm>
          <a:prstGeom prst="roundRect">
            <a:avLst>
              <a:gd name="adj" fmla="val 90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675" y="3571875"/>
            <a:ext cx="7981950" cy="609600"/>
          </a:xfrm>
          <a:prstGeom prst="roundRect">
            <a:avLst>
              <a:gd name="adj" fmla="val 90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0225" y="1428750"/>
            <a:ext cx="798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</a:t>
            </a:r>
            <a:r>
              <a:rPr lang="en-US" sz="1200" b="1" dirty="0" err="1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такое</a:t>
            </a: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Ритм</a:t>
            </a: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Веб-платформа для автоматизации процессов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работы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студии по обучению игре на духовых музыкальных инструментах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1025" y="2181225"/>
            <a:ext cx="798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Основное назначение: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записью на занятия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клиентской базой,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расписанием занятий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формированием отчетов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1025" y="2905125"/>
            <a:ext cx="798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Преимущество: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Централизованный доступ ко всей информации студии из одного интерфейса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1025" y="3629025"/>
            <a:ext cx="7981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Результат: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Снижение ошибок, экономия времени администратора и повышение удовлетворённости клиентов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Предметная область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1025" y="1457325"/>
            <a:ext cx="79819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Проблема: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Большинство студий используют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разрозненные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управления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расписанием и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клиентами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Это приводит к потере информации, ошибкам и неэффективности.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1025" y="2394496"/>
            <a:ext cx="798195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проекта: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Создать единую систему, которая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объединяет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клиентов, </a:t>
            </a: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расписанием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ru-RU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записью на занятия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формирование отчетов.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1025" y="3057376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6775" y="3445966"/>
            <a:ext cx="7696200" cy="110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Администраторы студий —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расписанием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клиентами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Преподаватели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работа с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электронным журналом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Клиенты —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на занятия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их оплата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Существующие решения и их недостатки</a:t>
            </a:r>
            <a:endParaRPr lang="en-US" sz="27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95265A9-9399-8C49-04B1-E6939FCDA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376284"/>
              </p:ext>
            </p:extLst>
          </p:nvPr>
        </p:nvGraphicFramePr>
        <p:xfrm>
          <a:off x="898769" y="1339788"/>
          <a:ext cx="6559062" cy="3297300"/>
        </p:xfrm>
        <a:graphic>
          <a:graphicData uri="http://schemas.openxmlformats.org/drawingml/2006/table">
            <a:tbl>
              <a:tblPr/>
              <a:tblGrid>
                <a:gridCol w="2186354">
                  <a:extLst>
                    <a:ext uri="{9D8B030D-6E8A-4147-A177-3AD203B41FA5}">
                      <a16:colId xmlns:a16="http://schemas.microsoft.com/office/drawing/2014/main" val="1608383763"/>
                    </a:ext>
                  </a:extLst>
                </a:gridCol>
                <a:gridCol w="2186354">
                  <a:extLst>
                    <a:ext uri="{9D8B030D-6E8A-4147-A177-3AD203B41FA5}">
                      <a16:colId xmlns:a16="http://schemas.microsoft.com/office/drawing/2014/main" val="95359865"/>
                    </a:ext>
                  </a:extLst>
                </a:gridCol>
                <a:gridCol w="2186354">
                  <a:extLst>
                    <a:ext uri="{9D8B030D-6E8A-4147-A177-3AD203B41FA5}">
                      <a16:colId xmlns:a16="http://schemas.microsoft.com/office/drawing/2014/main" val="446772276"/>
                    </a:ext>
                  </a:extLst>
                </a:gridCol>
              </a:tblGrid>
              <a:tr h="381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500" b="1">
                          <a:solidFill>
                            <a:srgbClr val="38BDF8"/>
                          </a:solidFill>
                          <a:effectLst/>
                        </a:rPr>
                        <a:t>Решение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500" b="1">
                          <a:solidFill>
                            <a:srgbClr val="38BDF8"/>
                          </a:solidFill>
                          <a:effectLst/>
                        </a:rPr>
                        <a:t>Преимущества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500" b="1">
                          <a:solidFill>
                            <a:srgbClr val="38BDF8"/>
                          </a:solidFill>
                          <a:effectLst/>
                        </a:rPr>
                        <a:t>Недостатки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991644"/>
                  </a:ext>
                </a:extLst>
              </a:tr>
              <a:tr h="607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CBD5E1"/>
                          </a:solidFill>
                          <a:effectLst/>
                        </a:rPr>
                        <a:t>Мессенджеры</a:t>
                      </a:r>
                      <a:endParaRPr lang="ru-RU" sz="1500">
                        <a:solidFill>
                          <a:srgbClr val="CBD5E1"/>
                        </a:solidFill>
                        <a:effectLst/>
                      </a:endParaRP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CBD5E1"/>
                          </a:solidFill>
                          <a:effectLst/>
                        </a:rPr>
                        <a:t>Простота, оперативность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CBD5E1"/>
                          </a:solidFill>
                          <a:effectLst/>
                        </a:rPr>
                        <a:t>Нет систематизации, потеря сообщений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C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685756"/>
                  </a:ext>
                </a:extLst>
              </a:tr>
              <a:tr h="83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rgbClr val="CBD5E1"/>
                          </a:solidFill>
                          <a:effectLst/>
                        </a:rPr>
                        <a:t>Excel/Google Sheets</a:t>
                      </a:r>
                      <a:endParaRPr lang="en-US" sz="1500">
                        <a:solidFill>
                          <a:srgbClr val="CBD5E1"/>
                        </a:solidFill>
                        <a:effectLst/>
                      </a:endParaRP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CBD5E1"/>
                          </a:solidFill>
                          <a:effectLst/>
                        </a:rPr>
                        <a:t>Доступность, гибкость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CBD5E1"/>
                          </a:solidFill>
                          <a:effectLst/>
                        </a:rPr>
                        <a:t>Высокая вероятность ошибок, медленная работа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705849"/>
                  </a:ext>
                </a:extLst>
              </a:tr>
              <a:tr h="607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solidFill>
                            <a:srgbClr val="CBD5E1"/>
                          </a:solidFill>
                          <a:effectLst/>
                        </a:rPr>
                        <a:t>CRM </a:t>
                      </a:r>
                      <a:r>
                        <a:rPr lang="ru-RU" sz="1500" b="1" dirty="0">
                          <a:solidFill>
                            <a:srgbClr val="CBD5E1"/>
                          </a:solidFill>
                          <a:effectLst/>
                        </a:rPr>
                        <a:t>общего назначения</a:t>
                      </a:r>
                      <a:endParaRPr lang="ru-RU" sz="1500" dirty="0">
                        <a:solidFill>
                          <a:srgbClr val="CBD5E1"/>
                        </a:solidFill>
                        <a:effectLst/>
                      </a:endParaRP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CBD5E1"/>
                          </a:solidFill>
                          <a:effectLst/>
                        </a:rPr>
                        <a:t>Полный функционал, интеграции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CBD5E1"/>
                          </a:solidFill>
                          <a:effectLst/>
                        </a:rPr>
                        <a:t>Избыточность, высокая стоимость, сложность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044266"/>
                  </a:ext>
                </a:extLst>
              </a:tr>
              <a:tr h="83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 dirty="0">
                          <a:solidFill>
                            <a:srgbClr val="CBD5E1"/>
                          </a:solidFill>
                          <a:effectLst/>
                        </a:rPr>
                        <a:t>Системы управления обучением</a:t>
                      </a:r>
                      <a:endParaRPr lang="ru-RU" sz="1500" dirty="0">
                        <a:solidFill>
                          <a:srgbClr val="CBD5E1"/>
                        </a:solidFill>
                        <a:effectLst/>
                      </a:endParaRP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CBD5E1"/>
                          </a:solidFill>
                          <a:effectLst/>
                        </a:rPr>
                        <a:t>Профильный функционал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CBD5E1"/>
                          </a:solidFill>
                          <a:effectLst/>
                        </a:rPr>
                        <a:t>Слабо адаптированы под коммерческие аспекты работы студии</a:t>
                      </a:r>
                    </a:p>
                  </a:txBody>
                  <a:tcPr marL="78270" marR="78270" marT="78270" marB="782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89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Текущий процесс (AS-IS)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1025" y="1457325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Проблемы: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6775" y="1845915"/>
            <a:ext cx="7696200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Трудоёмкость: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множество ручных действий при бронированиях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вероятность ошибок: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человеческий фактор при переносе данных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скорость: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много времени на поиск информации и переписку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Неструктурированность: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данные разрознены по разным платформам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1025" y="3800326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EF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Результат:</a:t>
            </a:r>
            <a:r>
              <a:rPr lang="en-US" sz="1200" dirty="0">
                <a:solidFill>
                  <a:srgbClr val="EF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финансовые потери, потеря клиентов, снижение репутации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Оптимизированный процесс (TO-BE)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1025" y="1457325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Преимущества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системы Ритм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6775" y="1845915"/>
            <a:ext cx="7696200" cy="18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Автоматизация: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исключается ручной ввод и переписка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Снижение ошибок: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все данные структурированы в единой системе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Высокая скорость: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доступ к информации в реальном времени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Централизация: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клиенты,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записи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расписание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одной базе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Удобная аналитика: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отчёты о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загруженности и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доходах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225" y="1709738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6525" y="1660525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54601" y="1647825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Функциональные возможности (Клиент)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7907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 </a:t>
            </a:r>
            <a:r>
              <a:rPr lang="ru-RU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на занятие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62000" y="2057400"/>
            <a:ext cx="22415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студии,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даты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времени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динамическим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расчётом стоимости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470225" y="17907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</a:t>
            </a:r>
            <a:r>
              <a:rPr lang="ru-RU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расписания 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470225" y="2057400"/>
            <a:ext cx="22415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точного расписания на неделю для студии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178451" y="17907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💳 Оплата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178451" y="2057400"/>
            <a:ext cx="22415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Интегрированная система расчётов с подтверждением платежа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01206" y="3317081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Доступно 24/7 из любого места через веб-браузер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150" y="2039541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6375" y="2019300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54601" y="2066925"/>
            <a:ext cx="2565350" cy="1288256"/>
          </a:xfrm>
          <a:prstGeom prst="roundRect">
            <a:avLst>
              <a:gd name="adj" fmla="val 7098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581025"/>
            <a:ext cx="79819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Функциональные возможности (Администратор)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22098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 Управление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22415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Добавление/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редактирование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студий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расписания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занятий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470225" y="22098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Отчёты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470225" y="2476500"/>
            <a:ext cx="2241500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Аналитика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выручке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загруженности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178451" y="2209800"/>
            <a:ext cx="2286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Контроль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178451" y="2476500"/>
            <a:ext cx="2241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6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Просмотр </a:t>
            </a:r>
            <a:r>
              <a:rPr lang="en-US" sz="1020" dirty="0" err="1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всех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записей</a:t>
            </a:r>
            <a:r>
              <a:rPr lang="en-US" sz="10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платежей и управление данными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01206" y="3736181"/>
            <a:ext cx="81415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контроль и прозрачность всех процессов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125" y="1387475"/>
            <a:ext cx="7981950" cy="428625"/>
          </a:xfrm>
          <a:prstGeom prst="roundRect">
            <a:avLst>
              <a:gd name="adj" fmla="val 128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2125" y="1930400"/>
            <a:ext cx="7981950" cy="428625"/>
          </a:xfrm>
          <a:prstGeom prst="roundRect">
            <a:avLst>
              <a:gd name="adj" fmla="val 128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2125" y="2473325"/>
            <a:ext cx="7981950" cy="428625"/>
          </a:xfrm>
          <a:prstGeom prst="roundRect">
            <a:avLst>
              <a:gd name="adj" fmla="val 128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125" y="3016250"/>
            <a:ext cx="7981950" cy="428625"/>
          </a:xfrm>
          <a:prstGeom prst="roundRect">
            <a:avLst>
              <a:gd name="adj" fmla="val 128000"/>
            </a:avLst>
          </a:prstGeom>
          <a:solidFill>
            <a:srgbClr val="4CAF50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Ключевые </a:t>
            </a:r>
            <a:r>
              <a:rPr lang="en-US" sz="2700" b="1" dirty="0" err="1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преимущества</a:t>
            </a: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системы Ритм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81025" y="1457325"/>
            <a:ext cx="798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Специализирована: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Разработана именно для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студий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обучения игре на духовых музыкальных инструментах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1025" y="2000250"/>
            <a:ext cx="798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Экономична: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Низкие затраты на разработку и поддержку (локальное развёртывание)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1025" y="2543175"/>
            <a:ext cx="798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Удобна для всех: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Интуитивный интерфейс для клиентов, администраторов и персонала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1025" y="3086100"/>
            <a:ext cx="798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Масштабируема: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Может быть расширена под растущие потребности студии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025" y="581025"/>
            <a:ext cx="7981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Ожидаемые результаты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6775" y="1457325"/>
            <a:ext cx="7696200" cy="184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Сокращение времени: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на занятия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10 минут до 2 минут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Снижение ошибок: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Исключение двойных броней и ошибок ввода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Повышение доходов: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Оптимизация расписания, полная загруженность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b="1" dirty="0">
                <a:solidFill>
                  <a:srgbClr val="81C7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Улучшение сервиса: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Клиенты получают полную </a:t>
            </a:r>
            <a:r>
              <a:rPr lang="en-US" sz="12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информацию</a:t>
            </a: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24/7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206" y="2228850"/>
            <a:ext cx="8141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 за внимание!</a:t>
            </a:r>
            <a:endParaRPr lang="en-US" sz="4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58</TotalTime>
  <Words>506</Words>
  <Application>Microsoft Office PowerPoint</Application>
  <PresentationFormat>Экран (16:9)</PresentationFormat>
  <Paragraphs>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Inter</vt:lpstr>
      <vt:lpstr>Tw Cen MT</vt:lpstr>
      <vt:lpstr>Контур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Дима Гончаренко</cp:lastModifiedBy>
  <cp:revision>3</cp:revision>
  <dcterms:created xsi:type="dcterms:W3CDTF">2025-11-22T02:37:17Z</dcterms:created>
  <dcterms:modified xsi:type="dcterms:W3CDTF">2025-12-20T03:46:17Z</dcterms:modified>
</cp:coreProperties>
</file>